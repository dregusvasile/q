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7"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2830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Introducere</a:t>
            </a:r>
            <a:endParaRPr lang="en-GB" dirty="0"/>
          </a:p>
          <a:p>
            <a:pPr marL="171450" indent="-171450">
              <a:buFont typeface="Arial" panose="020B0604020202020204" pitchFamily="34" charset="0"/>
              <a:buChar char="•"/>
            </a:pPr>
            <a:r>
              <a:rPr lang="en-GB" dirty="0"/>
              <a:t>Joc </a:t>
            </a:r>
            <a:r>
              <a:rPr lang="en-GB" dirty="0" err="1"/>
              <a:t>CandyCrush</a:t>
            </a:r>
            <a:r>
              <a:rPr lang="en-GB" dirty="0"/>
              <a:t> </a:t>
            </a:r>
            <a:r>
              <a:rPr lang="en-GB" dirty="0" err="1"/>
              <a:t>implementat</a:t>
            </a:r>
            <a:r>
              <a:rPr lang="en-GB" dirty="0"/>
              <a:t> </a:t>
            </a:r>
            <a:r>
              <a:rPr lang="en-GB" dirty="0" err="1"/>
              <a:t>în</a:t>
            </a:r>
            <a:r>
              <a:rPr lang="en-GB" dirty="0"/>
              <a:t> Python</a:t>
            </a:r>
          </a:p>
          <a:p>
            <a:pPr marL="171450" indent="-171450">
              <a:buFont typeface="Arial" panose="020B0604020202020204" pitchFamily="34" charset="0"/>
              <a:buChar char="•"/>
            </a:pPr>
            <a:r>
              <a:rPr lang="en-GB" dirty="0" err="1"/>
              <a:t>Simulează</a:t>
            </a:r>
            <a:r>
              <a:rPr lang="en-GB" dirty="0"/>
              <a:t> </a:t>
            </a:r>
            <a:r>
              <a:rPr lang="en-GB" dirty="0" err="1"/>
              <a:t>tabla</a:t>
            </a:r>
            <a:r>
              <a:rPr lang="en-GB" dirty="0"/>
              <a:t>, </a:t>
            </a:r>
            <a:r>
              <a:rPr lang="en-GB" dirty="0" err="1"/>
              <a:t>regulile</a:t>
            </a:r>
            <a:r>
              <a:rPr lang="en-GB" dirty="0"/>
              <a:t>, </a:t>
            </a:r>
            <a:r>
              <a:rPr lang="en-GB" dirty="0" err="1"/>
              <a:t>mutările</a:t>
            </a:r>
            <a:r>
              <a:rPr lang="en-GB" dirty="0"/>
              <a:t> </a:t>
            </a:r>
            <a:r>
              <a:rPr lang="en-GB" dirty="0" err="1"/>
              <a:t>și</a:t>
            </a:r>
            <a:r>
              <a:rPr lang="en-GB" dirty="0"/>
              <a:t> </a:t>
            </a:r>
            <a:r>
              <a:rPr lang="en-GB" dirty="0" err="1"/>
              <a:t>eliminările</a:t>
            </a:r>
            <a:endParaRPr lang="en-GB"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Structura</a:t>
            </a:r>
            <a:r>
              <a:rPr lang="en-GB" b="1" dirty="0"/>
              <a:t> </a:t>
            </a:r>
            <a:r>
              <a:rPr lang="en-GB" b="1" dirty="0" err="1"/>
              <a:t>proiectului</a:t>
            </a:r>
            <a:endParaRPr lang="en-GB" dirty="0"/>
          </a:p>
          <a:p>
            <a:pPr marL="171450" indent="-171450">
              <a:buFont typeface="Arial" panose="020B0604020202020204" pitchFamily="34" charset="0"/>
              <a:buChar char="•"/>
            </a:pPr>
            <a:r>
              <a:rPr lang="en-GB" dirty="0"/>
              <a:t>Mai </a:t>
            </a:r>
            <a:r>
              <a:rPr lang="en-GB" dirty="0" err="1"/>
              <a:t>multe</a:t>
            </a:r>
            <a:r>
              <a:rPr lang="en-GB" dirty="0"/>
              <a:t> </a:t>
            </a:r>
            <a:r>
              <a:rPr lang="en-GB" dirty="0" err="1"/>
              <a:t>fișiere</a:t>
            </a:r>
            <a:r>
              <a:rPr lang="en-GB" dirty="0"/>
              <a:t> Python</a:t>
            </a:r>
          </a:p>
          <a:p>
            <a:pPr marL="171450" indent="-171450">
              <a:buFont typeface="Arial" panose="020B0604020202020204" pitchFamily="34" charset="0"/>
              <a:buChar char="•"/>
            </a:pPr>
            <a:r>
              <a:rPr lang="en-GB" dirty="0" err="1"/>
              <a:t>Organizare</a:t>
            </a:r>
            <a:r>
              <a:rPr lang="en-GB" dirty="0"/>
              <a:t> </a:t>
            </a:r>
            <a:r>
              <a:rPr lang="en-GB" dirty="0" err="1"/>
              <a:t>modulară</a:t>
            </a:r>
            <a:endParaRPr lang="en-GB" dirty="0"/>
          </a:p>
          <a:p>
            <a:r>
              <a:rPr lang="en-GB" dirty="0"/>
              <a:t>Ușor de </a:t>
            </a:r>
            <a:r>
              <a:rPr lang="en-GB" dirty="0" err="1"/>
              <a:t>înțeles</a:t>
            </a:r>
            <a:r>
              <a:rPr lang="en-GB" dirty="0"/>
              <a:t> </a:t>
            </a:r>
            <a:r>
              <a:rPr lang="en-GB" dirty="0" err="1"/>
              <a:t>și</a:t>
            </a:r>
            <a:r>
              <a:rPr lang="en-GB" dirty="0"/>
              <a:t> </a:t>
            </a:r>
            <a:r>
              <a:rPr lang="en-GB" dirty="0" err="1"/>
              <a:t>extins</a:t>
            </a:r>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Fișierul</a:t>
            </a:r>
            <a:r>
              <a:rPr lang="en-GB" b="1" dirty="0"/>
              <a:t> principal</a:t>
            </a:r>
            <a:endParaRPr lang="en-GB" dirty="0"/>
          </a:p>
          <a:p>
            <a:pPr marL="171450" indent="-171450">
              <a:buFont typeface="Arial" panose="020B0604020202020204" pitchFamily="34" charset="0"/>
              <a:buChar char="•"/>
            </a:pPr>
            <a:r>
              <a:rPr lang="en-GB" dirty="0" err="1"/>
              <a:t>Punctul</a:t>
            </a:r>
            <a:r>
              <a:rPr lang="en-GB" dirty="0"/>
              <a:t> de </a:t>
            </a:r>
            <a:r>
              <a:rPr lang="en-GB" dirty="0" err="1"/>
              <a:t>pornire</a:t>
            </a:r>
            <a:r>
              <a:rPr lang="en-GB" dirty="0"/>
              <a:t> al </a:t>
            </a:r>
            <a:r>
              <a:rPr lang="en-GB" dirty="0" err="1"/>
              <a:t>jocului</a:t>
            </a:r>
            <a:endParaRPr lang="en-GB" dirty="0"/>
          </a:p>
          <a:p>
            <a:pPr marL="171450" indent="-171450">
              <a:buFont typeface="Arial" panose="020B0604020202020204" pitchFamily="34" charset="0"/>
              <a:buChar char="•"/>
            </a:pPr>
            <a:r>
              <a:rPr lang="en-GB" dirty="0" err="1"/>
              <a:t>Inițializează</a:t>
            </a:r>
            <a:r>
              <a:rPr lang="en-GB" dirty="0"/>
              <a:t> </a:t>
            </a:r>
            <a:r>
              <a:rPr lang="en-GB" dirty="0" err="1"/>
              <a:t>tabla</a:t>
            </a:r>
            <a:endParaRPr lang="en-GB" dirty="0"/>
          </a:p>
          <a:p>
            <a:pPr marL="171450" indent="-171450">
              <a:buFont typeface="Arial" panose="020B0604020202020204" pitchFamily="34" charset="0"/>
              <a:buChar char="•"/>
            </a:pPr>
            <a:r>
              <a:rPr lang="en-GB" dirty="0" err="1"/>
              <a:t>Controlează</a:t>
            </a:r>
            <a:r>
              <a:rPr lang="en-GB" dirty="0"/>
              <a:t> </a:t>
            </a:r>
            <a:r>
              <a:rPr lang="en-GB" dirty="0" err="1"/>
              <a:t>execuția</a:t>
            </a:r>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Generarea</a:t>
            </a:r>
            <a:r>
              <a:rPr lang="en-GB" b="1" dirty="0"/>
              <a:t> </a:t>
            </a:r>
            <a:r>
              <a:rPr lang="en-GB" b="1" dirty="0" err="1"/>
              <a:t>tablei</a:t>
            </a:r>
            <a:endParaRPr lang="en-GB" dirty="0"/>
          </a:p>
          <a:p>
            <a:pPr marL="171450" indent="-171450">
              <a:buFont typeface="Arial" panose="020B0604020202020204" pitchFamily="34" charset="0"/>
              <a:buChar char="•"/>
            </a:pPr>
            <a:r>
              <a:rPr lang="en-GB" dirty="0"/>
              <a:t>Matrice </a:t>
            </a:r>
            <a:r>
              <a:rPr lang="en-GB" dirty="0" err="1"/>
              <a:t>bidimensională</a:t>
            </a:r>
            <a:endParaRPr lang="en-GB" dirty="0"/>
          </a:p>
          <a:p>
            <a:pPr marL="171450" indent="-171450">
              <a:buFont typeface="Arial" panose="020B0604020202020204" pitchFamily="34" charset="0"/>
              <a:buChar char="•"/>
            </a:pPr>
            <a:r>
              <a:rPr lang="en-GB" dirty="0" err="1"/>
              <a:t>Generare</a:t>
            </a:r>
            <a:r>
              <a:rPr lang="en-GB" dirty="0"/>
              <a:t> </a:t>
            </a:r>
            <a:r>
              <a:rPr lang="en-GB" dirty="0" err="1"/>
              <a:t>aleatorie</a:t>
            </a:r>
            <a:endParaRPr lang="en-GB" dirty="0"/>
          </a:p>
          <a:p>
            <a:pPr marL="171450" indent="-171450">
              <a:buFont typeface="Arial" panose="020B0604020202020204" pitchFamily="34" charset="0"/>
              <a:buChar char="•"/>
            </a:pPr>
            <a:r>
              <a:rPr lang="en-GB" dirty="0" err="1"/>
              <a:t>Fără</a:t>
            </a:r>
            <a:r>
              <a:rPr lang="en-GB" dirty="0"/>
              <a:t> </a:t>
            </a:r>
            <a:r>
              <a:rPr lang="en-GB" dirty="0" err="1"/>
              <a:t>combinații</a:t>
            </a:r>
            <a:r>
              <a:rPr lang="en-GB" dirty="0"/>
              <a:t> </a:t>
            </a:r>
            <a:r>
              <a:rPr lang="en-GB" dirty="0" err="1"/>
              <a:t>inițiale</a:t>
            </a:r>
            <a:r>
              <a:rPr lang="en-GB" dirty="0"/>
              <a:t> </a:t>
            </a:r>
            <a:r>
              <a:rPr lang="en-GB" dirty="0" err="1"/>
              <a:t>valide</a:t>
            </a:r>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Logica </a:t>
            </a:r>
            <a:r>
              <a:rPr lang="en-GB" b="1" dirty="0" err="1"/>
              <a:t>jocului</a:t>
            </a:r>
            <a:endParaRPr lang="en-GB" dirty="0"/>
          </a:p>
          <a:p>
            <a:pPr marL="171450" indent="-171450">
              <a:buFont typeface="Arial" panose="020B0604020202020204" pitchFamily="34" charset="0"/>
              <a:buChar char="•"/>
            </a:pPr>
            <a:r>
              <a:rPr lang="en-GB" dirty="0" err="1"/>
              <a:t>Verifică</a:t>
            </a:r>
            <a:r>
              <a:rPr lang="en-GB" dirty="0"/>
              <a:t> </a:t>
            </a:r>
            <a:r>
              <a:rPr lang="en-GB" dirty="0" err="1"/>
              <a:t>mutările</a:t>
            </a:r>
            <a:endParaRPr lang="en-GB" dirty="0"/>
          </a:p>
          <a:p>
            <a:pPr marL="171450" indent="-171450">
              <a:buFont typeface="Arial" panose="020B0604020202020204" pitchFamily="34" charset="0"/>
              <a:buChar char="•"/>
            </a:pPr>
            <a:r>
              <a:rPr lang="en-GB" dirty="0" err="1"/>
              <a:t>Detectează</a:t>
            </a:r>
            <a:r>
              <a:rPr lang="en-GB" dirty="0"/>
              <a:t> </a:t>
            </a:r>
            <a:r>
              <a:rPr lang="en-GB" dirty="0" err="1"/>
              <a:t>combinații</a:t>
            </a:r>
            <a:endParaRPr lang="en-GB" dirty="0"/>
          </a:p>
          <a:p>
            <a:pPr marL="171450" indent="-171450">
              <a:buFont typeface="Arial" panose="020B0604020202020204" pitchFamily="34" charset="0"/>
              <a:buChar char="•"/>
            </a:pPr>
            <a:r>
              <a:rPr lang="en-GB" dirty="0" err="1"/>
              <a:t>Elimină</a:t>
            </a:r>
            <a:r>
              <a:rPr lang="en-GB" dirty="0"/>
              <a:t> </a:t>
            </a:r>
            <a:r>
              <a:rPr lang="en-GB" dirty="0" err="1"/>
              <a:t>simbolurile</a:t>
            </a:r>
            <a:r>
              <a:rPr lang="en-GB" dirty="0"/>
              <a:t> </a:t>
            </a:r>
            <a:r>
              <a:rPr lang="en-GB" dirty="0" err="1"/>
              <a:t>identice</a:t>
            </a:r>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Actualizarea</a:t>
            </a:r>
            <a:r>
              <a:rPr lang="en-GB" b="1" dirty="0"/>
              <a:t> </a:t>
            </a:r>
            <a:r>
              <a:rPr lang="en-GB" b="1" dirty="0" err="1"/>
              <a:t>tablei</a:t>
            </a:r>
            <a:endParaRPr lang="en-GB" dirty="0"/>
          </a:p>
          <a:p>
            <a:pPr marL="171450" indent="-171450">
              <a:buFont typeface="Arial" panose="020B0604020202020204" pitchFamily="34" charset="0"/>
              <a:buChar char="•"/>
            </a:pPr>
            <a:r>
              <a:rPr lang="en-GB" dirty="0" err="1"/>
              <a:t>Elementele</a:t>
            </a:r>
            <a:r>
              <a:rPr lang="en-GB" dirty="0"/>
              <a:t> cad </a:t>
            </a:r>
            <a:r>
              <a:rPr lang="en-GB" dirty="0" err="1"/>
              <a:t>în</a:t>
            </a:r>
            <a:r>
              <a:rPr lang="en-GB" dirty="0"/>
              <a:t> </a:t>
            </a:r>
            <a:r>
              <a:rPr lang="en-GB" dirty="0" err="1"/>
              <a:t>jos</a:t>
            </a:r>
            <a:endParaRPr lang="en-GB" dirty="0"/>
          </a:p>
          <a:p>
            <a:pPr marL="171450" indent="-171450">
              <a:buFont typeface="Arial" panose="020B0604020202020204" pitchFamily="34" charset="0"/>
              <a:buChar char="•"/>
            </a:pPr>
            <a:r>
              <a:rPr lang="en-GB" dirty="0" err="1"/>
              <a:t>Spațiile</a:t>
            </a:r>
            <a:r>
              <a:rPr lang="en-GB" dirty="0"/>
              <a:t> </a:t>
            </a:r>
            <a:r>
              <a:rPr lang="en-GB" dirty="0" err="1"/>
              <a:t>libere</a:t>
            </a:r>
            <a:r>
              <a:rPr lang="en-GB" dirty="0"/>
              <a:t> se </a:t>
            </a:r>
            <a:r>
              <a:rPr lang="en-GB" dirty="0" err="1"/>
              <a:t>completează</a:t>
            </a:r>
            <a:endParaRPr lang="en-GB" dirty="0"/>
          </a:p>
          <a:p>
            <a:pPr marL="171450" indent="-171450">
              <a:buFont typeface="Arial" panose="020B0604020202020204" pitchFamily="34" charset="0"/>
              <a:buChar char="•"/>
            </a:pPr>
            <a:r>
              <a:rPr lang="en-GB" dirty="0" err="1"/>
              <a:t>Jocul</a:t>
            </a:r>
            <a:r>
              <a:rPr lang="en-GB" dirty="0"/>
              <a:t> </a:t>
            </a:r>
            <a:r>
              <a:rPr lang="en-GB" dirty="0" err="1"/>
              <a:t>continuă</a:t>
            </a:r>
            <a:r>
              <a:rPr lang="en-GB" dirty="0"/>
              <a:t> fluent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it-IT" b="1" dirty="0"/>
              <a:t>Interacțiunea utilizatorului</a:t>
            </a:r>
            <a:endParaRPr lang="it-IT" dirty="0"/>
          </a:p>
          <a:p>
            <a:pPr marL="171450" indent="-171450">
              <a:buFont typeface="Arial" panose="020B0604020202020204" pitchFamily="34" charset="0"/>
              <a:buChar char="•"/>
            </a:pPr>
            <a:r>
              <a:rPr lang="it-IT" dirty="0"/>
              <a:t>Comenzi din linia de comandă</a:t>
            </a:r>
          </a:p>
          <a:p>
            <a:pPr marL="171450" indent="-171450">
              <a:buFont typeface="Arial" panose="020B0604020202020204" pitchFamily="34" charset="0"/>
              <a:buChar char="•"/>
            </a:pPr>
            <a:r>
              <a:rPr lang="it-IT" dirty="0"/>
              <a:t>Control și testare ușoară</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Testarea</a:t>
            </a:r>
            <a:r>
              <a:rPr lang="en-GB" b="1" dirty="0"/>
              <a:t> </a:t>
            </a:r>
            <a:r>
              <a:rPr lang="en-GB" b="1" dirty="0" err="1"/>
              <a:t>aplicației</a:t>
            </a:r>
            <a:endParaRPr lang="en-GB" dirty="0"/>
          </a:p>
          <a:p>
            <a:pPr marL="171450" indent="-171450">
              <a:buFont typeface="Arial" panose="020B0604020202020204" pitchFamily="34" charset="0"/>
              <a:buChar char="•"/>
            </a:pPr>
            <a:r>
              <a:rPr lang="en-GB" dirty="0" err="1"/>
              <a:t>Funcții</a:t>
            </a:r>
            <a:r>
              <a:rPr lang="en-GB" dirty="0"/>
              <a:t> </a:t>
            </a:r>
            <a:r>
              <a:rPr lang="en-GB" dirty="0" err="1"/>
              <a:t>și</a:t>
            </a:r>
            <a:r>
              <a:rPr lang="en-GB" dirty="0"/>
              <a:t> </a:t>
            </a:r>
            <a:r>
              <a:rPr lang="en-GB" dirty="0" err="1"/>
              <a:t>fișiere</a:t>
            </a:r>
            <a:r>
              <a:rPr lang="en-GB" dirty="0"/>
              <a:t> de test</a:t>
            </a:r>
          </a:p>
          <a:p>
            <a:pPr marL="171450" indent="-171450">
              <a:buFont typeface="Arial" panose="020B0604020202020204" pitchFamily="34" charset="0"/>
              <a:buChar char="•"/>
            </a:pPr>
            <a:r>
              <a:rPr lang="en-GB" dirty="0" err="1"/>
              <a:t>Verifică</a:t>
            </a:r>
            <a:r>
              <a:rPr lang="en-GB" dirty="0"/>
              <a:t> </a:t>
            </a:r>
            <a:r>
              <a:rPr lang="en-GB" dirty="0" err="1"/>
              <a:t>logica</a:t>
            </a:r>
            <a:r>
              <a:rPr lang="en-GB" dirty="0"/>
              <a:t> </a:t>
            </a:r>
            <a:r>
              <a:rPr lang="en-GB" dirty="0" err="1"/>
              <a:t>și</a:t>
            </a:r>
            <a:r>
              <a:rPr lang="en-GB" dirty="0"/>
              <a:t> </a:t>
            </a:r>
            <a:r>
              <a:rPr lang="en-GB" dirty="0" err="1"/>
              <a:t>comportamentul</a:t>
            </a:r>
            <a:endParaRPr lang="en-GB"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Analiza </a:t>
            </a:r>
            <a:r>
              <a:rPr lang="en-GB" b="1" dirty="0" err="1"/>
              <a:t>performanței</a:t>
            </a:r>
            <a:endParaRPr lang="en-GB" dirty="0"/>
          </a:p>
          <a:p>
            <a:pPr marL="171450" indent="-171450">
              <a:buFont typeface="Arial" panose="020B0604020202020204" pitchFamily="34" charset="0"/>
              <a:buChar char="•"/>
            </a:pPr>
            <a:r>
              <a:rPr lang="en-GB" dirty="0" err="1"/>
              <a:t>Instrumente</a:t>
            </a:r>
            <a:r>
              <a:rPr lang="en-GB" dirty="0"/>
              <a:t> de </a:t>
            </a:r>
            <a:r>
              <a:rPr lang="en-GB" dirty="0" err="1"/>
              <a:t>profilare</a:t>
            </a:r>
            <a:endParaRPr lang="en-GB" dirty="0"/>
          </a:p>
          <a:p>
            <a:pPr marL="171450" indent="-171450">
              <a:buFont typeface="Arial" panose="020B0604020202020204" pitchFamily="34" charset="0"/>
              <a:buChar char="•"/>
            </a:pPr>
            <a:r>
              <a:rPr lang="en-GB" dirty="0" err="1"/>
              <a:t>Identifică</a:t>
            </a:r>
            <a:r>
              <a:rPr lang="en-GB" dirty="0"/>
              <a:t> </a:t>
            </a:r>
            <a:r>
              <a:rPr lang="en-GB" dirty="0" err="1"/>
              <a:t>zonele</a:t>
            </a:r>
            <a:r>
              <a:rPr lang="en-GB" dirty="0"/>
              <a:t> lente</a:t>
            </a:r>
          </a:p>
          <a:p>
            <a:pPr marL="171450" indent="-171450">
              <a:buFont typeface="Arial" panose="020B0604020202020204" pitchFamily="34" charset="0"/>
              <a:buChar char="•"/>
            </a:pPr>
            <a:r>
              <a:rPr lang="en-GB" dirty="0" err="1"/>
              <a:t>Ajută</a:t>
            </a:r>
            <a:r>
              <a:rPr lang="en-GB" dirty="0"/>
              <a:t> la </a:t>
            </a:r>
            <a:r>
              <a:rPr lang="en-GB" dirty="0" err="1"/>
              <a:t>optimizare</a:t>
            </a:r>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err="1"/>
              <a:t>Concluzie</a:t>
            </a:r>
            <a:endParaRPr lang="en-GB" dirty="0"/>
          </a:p>
          <a:p>
            <a:pPr marL="171450" indent="-171450">
              <a:buFont typeface="Arial" panose="020B0604020202020204" pitchFamily="34" charset="0"/>
              <a:buChar char="•"/>
            </a:pPr>
            <a:r>
              <a:rPr lang="en-GB" dirty="0" err="1"/>
              <a:t>Implementare</a:t>
            </a:r>
            <a:r>
              <a:rPr lang="en-GB" dirty="0"/>
              <a:t> </a:t>
            </a:r>
            <a:r>
              <a:rPr lang="en-GB" dirty="0" err="1"/>
              <a:t>clară</a:t>
            </a:r>
            <a:r>
              <a:rPr lang="en-GB" dirty="0"/>
              <a:t> </a:t>
            </a:r>
            <a:r>
              <a:rPr lang="en-GB" dirty="0" err="1"/>
              <a:t>CandyCrush</a:t>
            </a:r>
            <a:endParaRPr lang="en-GB" dirty="0"/>
          </a:p>
          <a:p>
            <a:pPr marL="171450" indent="-171450">
              <a:buFont typeface="Arial" panose="020B0604020202020204" pitchFamily="34" charset="0"/>
              <a:buChar char="•"/>
            </a:pPr>
            <a:r>
              <a:rPr lang="en-GB" dirty="0"/>
              <a:t>Cod modular</a:t>
            </a:r>
          </a:p>
          <a:p>
            <a:pPr marL="171450" indent="-171450">
              <a:buFont typeface="Arial" panose="020B0604020202020204" pitchFamily="34" charset="0"/>
              <a:buChar char="•"/>
            </a:pPr>
            <a:r>
              <a:rPr lang="en-GB" dirty="0"/>
              <a:t>Ușor de </a:t>
            </a:r>
            <a:r>
              <a:rPr lang="en-GB" dirty="0" err="1"/>
              <a:t>extins</a:t>
            </a:r>
            <a:endParaRPr lang="en-GB"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6838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171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6724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3222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850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140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841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8621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405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4609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1943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28920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0349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59736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201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4391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8977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12/14/2025</a:t>
            </a:fld>
            <a:endParaRPr lang="en-U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29075366"/>
      </p:ext>
    </p:extLst>
  </p:cSld>
  <p:clrMap bg1="dk1" tx1="lt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Introducere</a:t>
            </a:r>
          </a:p>
        </p:txBody>
      </p:sp>
      <p:sp>
        <p:nvSpPr>
          <p:cNvPr id="3" name="Content Placeholder 2"/>
          <p:cNvSpPr>
            <a:spLocks noGrp="1"/>
          </p:cNvSpPr>
          <p:nvPr>
            <p:ph idx="1"/>
          </p:nvPr>
        </p:nvSpPr>
        <p:spPr/>
        <p:txBody>
          <a:bodyPr/>
          <a:lstStyle/>
          <a:p>
            <a:r>
              <a:t>Proiectul prezintă implementarea unui joc de tip CandyCrush realizat în limbajul Python. Codul simulează funcționarea tablei de joc, regulile de bază, mutările posibile și eliminarea combinațiilor, punând accent pe claritate, structură și performanță.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Structura proiectului</a:t>
            </a:r>
          </a:p>
        </p:txBody>
      </p:sp>
      <p:sp>
        <p:nvSpPr>
          <p:cNvPr id="3" name="Content Placeholder 2"/>
          <p:cNvSpPr>
            <a:spLocks noGrp="1"/>
          </p:cNvSpPr>
          <p:nvPr>
            <p:ph idx="1"/>
          </p:nvPr>
        </p:nvSpPr>
        <p:spPr/>
        <p:txBody>
          <a:bodyPr/>
          <a:lstStyle/>
          <a:p>
            <a:r>
              <a:t>Proiectul este împărțit în mai multe fișiere Python, fiecare având o responsabilitate clar definită. Această organizare modulară facilitează înțelegerea codului, testarea separată a componentelor și extinderea funcționalităților jocului.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Fișierul principal</a:t>
            </a:r>
          </a:p>
        </p:txBody>
      </p:sp>
      <p:sp>
        <p:nvSpPr>
          <p:cNvPr id="3" name="Content Placeholder 2"/>
          <p:cNvSpPr>
            <a:spLocks noGrp="1"/>
          </p:cNvSpPr>
          <p:nvPr>
            <p:ph idx="1"/>
          </p:nvPr>
        </p:nvSpPr>
        <p:spPr/>
        <p:txBody>
          <a:bodyPr/>
          <a:lstStyle/>
          <a:p>
            <a:r>
              <a:t>Fișierul principal reprezintă punctul de pornire al aplicației și coordonează execuția jocului. Acesta inițializează tabla de joc, gestionează fluxul aplicației și apelează funcțiile necesare pentru rularea corectă.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Generarea tablei de joc</a:t>
            </a:r>
          </a:p>
        </p:txBody>
      </p:sp>
      <p:sp>
        <p:nvSpPr>
          <p:cNvPr id="3" name="Content Placeholder 2"/>
          <p:cNvSpPr>
            <a:spLocks noGrp="1"/>
          </p:cNvSpPr>
          <p:nvPr>
            <p:ph idx="1"/>
          </p:nvPr>
        </p:nvSpPr>
        <p:spPr/>
        <p:txBody>
          <a:bodyPr/>
          <a:lstStyle/>
          <a:p>
            <a:r>
              <a:t>Tabla de joc este reprezentată sub forma unei matrice bidimensionale generate aleator. Funcțiile dedicate se asigură că distribuția elementelor este corectă și că nu există combinații valide imediat după inițializare.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 jocului</a:t>
            </a:r>
          </a:p>
        </p:txBody>
      </p:sp>
      <p:sp>
        <p:nvSpPr>
          <p:cNvPr id="3" name="Content Placeholder 2"/>
          <p:cNvSpPr>
            <a:spLocks noGrp="1"/>
          </p:cNvSpPr>
          <p:nvPr>
            <p:ph idx="1"/>
          </p:nvPr>
        </p:nvSpPr>
        <p:spPr/>
        <p:txBody>
          <a:bodyPr/>
          <a:lstStyle/>
          <a:p>
            <a:r>
              <a:t>Logica jocului verifică mutările realizate de utilizator și identifică secvențele de simboluri identice. Atunci când sunt detectate combinații valide, acestea sunt eliminate conform regulilor jocului.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Actualizarea tablei</a:t>
            </a:r>
          </a:p>
        </p:txBody>
      </p:sp>
      <p:sp>
        <p:nvSpPr>
          <p:cNvPr id="3" name="Content Placeholder 2"/>
          <p:cNvSpPr>
            <a:spLocks noGrp="1"/>
          </p:cNvSpPr>
          <p:nvPr>
            <p:ph idx="1"/>
          </p:nvPr>
        </p:nvSpPr>
        <p:spPr/>
        <p:txBody>
          <a:bodyPr/>
          <a:lstStyle/>
          <a:p>
            <a:r>
              <a:t>După eliminarea combinațiilor, elementele aflate deasupra spațiilor libere coboară automat. Pozițiile rămase libere sunt completate cu elemente noi, menținând continuitatea și dinamica jocului.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Interacțiunea utilizatorului</a:t>
            </a:r>
          </a:p>
        </p:txBody>
      </p:sp>
      <p:sp>
        <p:nvSpPr>
          <p:cNvPr id="3" name="Content Placeholder 2"/>
          <p:cNvSpPr>
            <a:spLocks noGrp="1"/>
          </p:cNvSpPr>
          <p:nvPr>
            <p:ph idx="1"/>
          </p:nvPr>
        </p:nvSpPr>
        <p:spPr/>
        <p:txBody>
          <a:bodyPr/>
          <a:lstStyle/>
          <a:p>
            <a:r>
              <a:t>Utilizatorul interacționează cu jocul prin comenzi sau parametri primiți din linia de comandă. Această metodă permite control flexibil și testarea diferitelor scenarii de joc.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Testarea aplicației</a:t>
            </a:r>
          </a:p>
        </p:txBody>
      </p:sp>
      <p:sp>
        <p:nvSpPr>
          <p:cNvPr id="3" name="Content Placeholder 2"/>
          <p:cNvSpPr>
            <a:spLocks noGrp="1"/>
          </p:cNvSpPr>
          <p:nvPr>
            <p:ph idx="1"/>
          </p:nvPr>
        </p:nvSpPr>
        <p:spPr/>
        <p:txBody>
          <a:bodyPr/>
          <a:lstStyle/>
          <a:p>
            <a:r>
              <a:t>Pentru validarea corectitudinii, proiectul include funcții și fișiere de test. Acestea verifică generarea matricei, eliminarea combinațiilor și comportamentul general al jocului.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Analiza performanței</a:t>
            </a:r>
          </a:p>
        </p:txBody>
      </p:sp>
      <p:sp>
        <p:nvSpPr>
          <p:cNvPr id="3" name="Content Placeholder 2"/>
          <p:cNvSpPr>
            <a:spLocks noGrp="1"/>
          </p:cNvSpPr>
          <p:nvPr>
            <p:ph idx="1"/>
          </p:nvPr>
        </p:nvSpPr>
        <p:spPr/>
        <p:txBody>
          <a:bodyPr/>
          <a:lstStyle/>
          <a:p>
            <a:r>
              <a:t>Codul utilizează instrumente de profilare pentru a analiza performanța aplicației. Acestea identifică zonele lente din cod și oferă informații utile pentru optimizarea execuției.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Concluzie</a:t>
            </a:r>
          </a:p>
        </p:txBody>
      </p:sp>
      <p:sp>
        <p:nvSpPr>
          <p:cNvPr id="3" name="Content Placeholder 2"/>
          <p:cNvSpPr>
            <a:spLocks noGrp="1"/>
          </p:cNvSpPr>
          <p:nvPr>
            <p:ph idx="1"/>
          </p:nvPr>
        </p:nvSpPr>
        <p:spPr/>
        <p:txBody>
          <a:bodyPr/>
          <a:lstStyle/>
          <a:p>
            <a:r>
              <a:t>Proiectul oferă o implementare clară și bine structurată a jocului CandyCrush în Python. Folosirea programării modulare și a testării asigură un cod ușor de înțeles și de extins.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11</TotalTime>
  <Words>426</Words>
  <Application>Microsoft Office PowerPoint</Application>
  <PresentationFormat>On-screen Show (4:3)</PresentationFormat>
  <Paragraphs>57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Bookman Old Style</vt:lpstr>
      <vt:lpstr>Rockwell</vt:lpstr>
      <vt:lpstr>Damask</vt:lpstr>
      <vt:lpstr>Introducere</vt:lpstr>
      <vt:lpstr>Structura proiectului</vt:lpstr>
      <vt:lpstr>Fișierul principal</vt:lpstr>
      <vt:lpstr>Generarea tablei de joc</vt:lpstr>
      <vt:lpstr>Logica jocului</vt:lpstr>
      <vt:lpstr>Actualizarea tablei</vt:lpstr>
      <vt:lpstr>Interacțiunea utilizatorului</vt:lpstr>
      <vt:lpstr>Testarea aplicației</vt:lpstr>
      <vt:lpstr>Analiza performanței</vt:lpstr>
      <vt:lpstr>Concluzie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DREGUS CIPRIAN</cp:lastModifiedBy>
  <cp:revision>2</cp:revision>
  <dcterms:created xsi:type="dcterms:W3CDTF">2013-01-27T09:14:16Z</dcterms:created>
  <dcterms:modified xsi:type="dcterms:W3CDTF">2025-12-14T15:13:47Z</dcterms:modified>
  <cp:category/>
</cp:coreProperties>
</file>